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各位老师好，我汇报的题目是《汉中城市空气质量数据分析》。本项目基于 2025 年全年 365 天的逐日监测数据，系统分析汉中空气质量的时间规律与污染成因，并在此基础上开发了一个可交互的数据分析驾驶舱。汇报分为五个部分：背景与方法、总体特征、时间规律与成因、污染物关联、交互系统与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数据来自天气后报汉中 2025 年逐日监测，365 天无缺失。处理分五步：先 Python 抓取并做缺失校验；然后做描述统计；接着做季节分解和极端过程识别；再做 Pearson 相关分析；最后一步产出 8 张分析图，并用 Streamlit 封装成交互驾驶舱。等级按国标 HJ 633 划分。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从总体看，汉中 2025 年空气是比较好的：全年 365 天连续监测，优良天数 325 天，优良率 89.0%；年均 AQI 63.9，处于二级标准；但全年仍有 10 天重度及以上污染。右边的环图给出了六个等级的日数构成，可以看到优良占了绝对多数，污染日集中在冬季。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这是全年逐日 AQI 曲线。可以清楚看到冬高夏低的规律：冬季 12 月到次年 2 月形成连续的高值带，其中 1 月平均 AQI 达到 139，是全年最重的月份；夏秋季多数日子在优良线以下。另外有两个孤立尖峰，最高的一次是 4 月 12 日的外来沙尘过程，AQI 冲到 300。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这张热力图把十二个月和各污染物放在一起。颜色最深的区块集中在冬季，PM2.5 和 AQI 在 12 月到次年 2 月同时走高；夏天 7、8 月几乎全浅色，是一年中空气最好的时候。值得注意的是 4 月 PM10 单独异常，这就是我们接下来要讲的沙尘过程。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把 40 个非优良日按首要污染物拆开，季节分工非常清楚：PM2.5 主导了 90 天次、几乎都在冬季，对应采暖排放；臭氧主导 79 天次、全在夏季高温日；PM10 主导 44 天次、集中在春季沙尘过程。这说明汉中的污染治理不能一把抓，冬季抓 PM2.5、夏季抓臭氧、春季防沙尘。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全年最严重的一次过程出现在 4 月 12 日：当天 AQI 达到 300，PM10 浓度高达 1302 微克每立方米，是日常水平的十几倍。结合气象背景，这是一次西北路径外来沙尘输送，短历时、一两天就随天气过境消散，本地排放不是主因。右边的箱线图也显示，这样的极值在全年分布里是明显的离群点。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相关性分析给出一个很强的结论：PM2.5 与 AQI 的皮尔逊相关系数达到 0.95，也就是说 PM2.5 几乎决定了每天的空气质量等级。而 PM2.5 和臭氧是负相关的，相关系数负 0.25，这正好对应冬夏季节错位。所以治理上，盯住 PM2.5 就抓住了全年改善的主要矛盾。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最后是我们的交互系统。基于 Streamlit 和 Plotly，把所有分析封装成五个标签页：总览、污染物、相关性、日历热力图和数据浏览。侧边栏可以按日期区间、季节和月份筛选，整个页面联动重算；图表本身支持缩放和悬停读数。整个应用在本地浏览器打开就能用，不需要服务器部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最后总结。结论有三点：全年空气质量总体良好，优良率 89%；污染呈冬季型，PM2.5 与 AQI 高度相关，是主要矛盾；春季沙尘和夏季臭氧是两类外部挑战。对应的建议是：秋冬季盯 PM2.5、春季防沙尘、夏季控臭氧，并把我们的驾驶舱作为常态化监测工具。我的汇报到此结束，谢谢各位老师，欢迎提问。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89000" y="19050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2025 年逐日监测数据 · 全年 365 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2476500"/>
            <a:ext cx="7112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汉中城市空气质量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8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数据分析</a:t>
            </a:r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889040" y="4692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89000" y="4978400"/>
            <a:ext cx="685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7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时空特征 · 污染成因 · Streamlit 交互式分析驾驶舱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61722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07A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数据来源：天气后报（tianqihoubao.com）汉中市 2025 年逐日监测（24 小时均值）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6F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604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数据与方法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9906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数据来源与处理流程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889053" y="1746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" y="20066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807A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数据来源：天气后报（tianqihoubao.com）汉中市 2025 年逐日监测 · 365 天无缺失 · AQI 等 8 项指标 · 24 小时均值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4892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数据处理五步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984500"/>
            <a:ext cx="190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D0C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149600"/>
            <a:ext cx="1549400" cy="157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22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true" i="false" strike="noStrike" u="none" sz="12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抓取校验</a:t>
            </a: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Python 抓取逐日数据，缺失校验后 0 缺失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84500" y="2984500"/>
            <a:ext cx="190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D0C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162300" y="3149600"/>
            <a:ext cx="1549400" cy="157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22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true" i="false" strike="noStrike" u="none" sz="12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描述统计</a:t>
            </a: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年均、月均、各等级日数与占比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80000" y="2984500"/>
            <a:ext cx="190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D0C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257800" y="3149600"/>
            <a:ext cx="1549400" cy="157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22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true" i="false" strike="noStrike" u="none" sz="12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季节与极端</a:t>
            </a: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月度分解、季节对比、极端过程识别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75500" y="2984500"/>
            <a:ext cx="190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8D0C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353300" y="3149600"/>
            <a:ext cx="1549400" cy="157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22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4</a:t>
            </a: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true" i="false" strike="noStrike" u="none" sz="12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相关分析</a:t>
            </a: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2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Pearson 相关，量化污染物间关系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271000" y="2984500"/>
            <a:ext cx="1905000" cy="19050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12700" cmpd="sng" cap="flat">
            <a:solidFill>
              <a:srgbClr val="4C7A5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448800" y="3149600"/>
            <a:ext cx="1549400" cy="157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5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true" i="false" strike="noStrike" u="none" sz="1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出图与封装</a:t>
            </a:r>
            <a:r>
              <a:rPr lang="en-US" b="false" i="false" strike="noStrike" u="none" sz="1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8 张分析图 + Streamlit 交互驾驶舱</a:t>
            </a:r>
          </a:p>
        </p:txBody>
      </p:sp>
      <p:cxnSp>
        <p:nvCxnSpPr>
          <p:cNvPr name="Connector 17" id="17"/>
          <p:cNvCxnSpPr/>
          <p:nvPr/>
        </p:nvCxnSpPr>
        <p:spPr>
          <a:xfrm rot="-263922" flipH="false" flipV="false">
            <a:off x="2794244" y="3930650"/>
            <a:ext cx="16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18" id="18"/>
          <p:cNvCxnSpPr/>
          <p:nvPr/>
        </p:nvCxnSpPr>
        <p:spPr>
          <a:xfrm rot="-263922" flipH="false" flipV="false">
            <a:off x="4889744" y="3930650"/>
            <a:ext cx="16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19" id="19"/>
          <p:cNvCxnSpPr/>
          <p:nvPr/>
        </p:nvCxnSpPr>
        <p:spPr>
          <a:xfrm rot="-263922" flipH="false" flipV="false">
            <a:off x="6985244" y="3930650"/>
            <a:ext cx="16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20" id="20"/>
          <p:cNvCxnSpPr/>
          <p:nvPr/>
        </p:nvCxnSpPr>
        <p:spPr>
          <a:xfrm rot="-263922" flipH="false" flipV="false">
            <a:off x="9080744" y="3930650"/>
            <a:ext cx="165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89000" y="6350000"/>
            <a:ext cx="1041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48E"/>
                </a:solidFill>
                <a:latin typeface="Noto Serif SC"/>
                <a:ea typeface="Noto Serif SC"/>
                <a:cs typeface="Noto Serif SC"/>
                <a:sym typeface="Noto Serif SC"/>
              </a:rPr>
              <a:t>等级标准 HJ 633—2012 · 区间过滤经七组用例自动验证 · 全部脚本可复现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604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· 总体空气质量特征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9906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全年 89% 天数优良，空气质量总体良好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889053" y="1746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" y="2095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365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857500" y="22606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全年连续监测天数，无缺失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984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89.0%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857500" y="31496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优良天数比例（共 325 天）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3873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63.9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857500" y="40386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全年平均 AQI（二级标准）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4762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9B503C"/>
                </a:solidFill>
                <a:latin typeface="Noto Serif SC"/>
                <a:ea typeface="Noto Serif SC"/>
                <a:cs typeface="Noto Serif SC"/>
                <a:sym typeface="Noto Serif SC"/>
              </a:rPr>
              <a:t>10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857500" y="49276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重度及以上污染天数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25" r="25" t="0" b="0"/>
          <a:stretch>
            <a:fillRect/>
          </a:stretch>
        </p:blipFill>
        <p:spPr>
          <a:xfrm rot="0" flipH="false" flipV="false">
            <a:off x="6858000" y="1905000"/>
            <a:ext cx="4445000" cy="3365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6858000" y="5384800"/>
            <a:ext cx="444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07A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1 · 2025 年空气质量等级日数构成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" y="6350000"/>
            <a:ext cx="1041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48E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数据来源：天气后报汉中 2025 年逐日监测 · 优良一二级 325 天 · 轻度 30 天、中度 20 天、重度及以上 10 天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604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时间规律与污染成因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9906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AQI 全年冬高夏低，1 月是污染最重月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889053" y="1746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38" b="38"/>
          <a:stretch>
            <a:fillRect/>
          </a:stretch>
        </p:blipFill>
        <p:spPr>
          <a:xfrm rot="0" flipH="false" flipV="false">
            <a:off x="889000" y="1905000"/>
            <a:ext cx="7112000" cy="2514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4470400"/>
            <a:ext cx="711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07A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2 · 2025 年逐日 AQI 变化（虚线为各等级阈值）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509000" y="1905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冬季高峰带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12 月至次年 2 月持续高值，采暖排放叠加盆地不利扩散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509000" y="2921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1 月最重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月均 AQI 139，约为全年均值的 2.2 倍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509000" y="3937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春季尖峰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4 月 12 日外来沙尘过程把 AQI 推至 300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6350000"/>
            <a:ext cx="1041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48E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数据来源：天气后报汉中 2025 年逐日 AQI · 阈值线：优 50 / 良 100 / 轻度 150 / 中度 200 / 重度 300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604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时间规律与污染成因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9906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季节分异明显：冬最重、夏最净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889053" y="1746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47" b="47"/>
          <a:stretch>
            <a:fillRect/>
          </a:stretch>
        </p:blipFill>
        <p:spPr>
          <a:xfrm rot="0" flipH="false" flipV="false">
            <a:off x="889000" y="1905000"/>
            <a:ext cx="7366000" cy="3784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5740400"/>
            <a:ext cx="736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07A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3 · 逐月污染物浓度热力分布（颜色越深浓度越高）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636000" y="19685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冬季高污染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12–2 月 PM2.5 与 AQI 同时走高，采暖排放是主因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0" y="31750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夏季最净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7–8 月降水充沛、大气扩散条件最好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636000" y="4381500"/>
            <a:ext cx="266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春季脉冲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4 月 PM10 异常抬升，对应外来沙尘输送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6350000"/>
            <a:ext cx="1041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48E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数据来源：天气后报汉中 2025 年逐月监测值 · 季节按气象季度划分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604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污染物关联分析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9906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非优良日的首要污染物呈季节分工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889053" y="1746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64" r="64" t="0" b="0"/>
          <a:stretch>
            <a:fillRect/>
          </a:stretch>
        </p:blipFill>
        <p:spPr>
          <a:xfrm rot="0" flipH="false" flipV="false">
            <a:off x="889000" y="1905000"/>
            <a:ext cx="7112000" cy="414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6121400"/>
            <a:ext cx="711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07A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4 · 非优良日首要污染物构成（按季节）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509000" y="19685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PM2.5 · 90 天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几乎全部落在冬季，是采暖期首要矛盾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509000" y="3302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臭氧 · 79 天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集中在夏季高温日，光化学过程主导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509000" y="46355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PM10 · 44 天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集中在春季，以外来沙尘与扬尘为主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6350000"/>
            <a:ext cx="1041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48E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数据来源：天气后报汉中 2025 年逐日监测 · 首要污染物按 AQI 最大分指数因子判定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604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时间规律与污染成因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9906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4 月 12 日沙尘过程：全年最脏的一天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889053" y="1746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" y="2095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9B503C"/>
                </a:solidFill>
                <a:latin typeface="Noto Serif SC"/>
                <a:ea typeface="Noto Serif SC"/>
                <a:cs typeface="Noto Serif SC"/>
                <a:sym typeface="Noto Serif SC"/>
              </a:rPr>
              <a:t>AQI 300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794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当日 AQI 达重度污染水平，全年峰值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365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9B503C"/>
                </a:solidFill>
                <a:latin typeface="Noto Serif SC"/>
                <a:ea typeface="Noto Serif SC"/>
                <a:cs typeface="Noto Serif SC"/>
                <a:sym typeface="Noto Serif SC"/>
              </a:rPr>
              <a:t>1302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4064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当日 PM10 浓度（μg/m³），约为日常十余倍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4699000"/>
            <a:ext cx="419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成因：西北路径外来沙尘输送，属短历时过程，1–2 天即随天气系统过境消散，本地排放并非主因。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67" r="67" t="0" b="0"/>
          <a:stretch>
            <a:fillRect/>
          </a:stretch>
        </p:blipFill>
        <p:spPr>
          <a:xfrm rot="0" flipH="false" flipV="false">
            <a:off x="5461000" y="2222500"/>
            <a:ext cx="5842000" cy="25527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5461000" y="4851400"/>
            <a:ext cx="584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07A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5 · 各等级 AQI 分布箱线图（离群点为极端过程）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6350000"/>
            <a:ext cx="1041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48E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数据来源：天气后报汉中 2025 年逐日监测 · 2025-04-12 当日记录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604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污染物关联分析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9906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PM2.5 是 AQI 的主导因子：相关系数 0.95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889053" y="1746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43000" y="1968500"/>
            <a:ext cx="4876800" cy="406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143000" y="6096000"/>
            <a:ext cx="4876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07A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6 · PM2.5 与 AQI 逐日散点关系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2032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r = 0.95</a:t>
            </a:r>
            <a:r>
              <a:rPr lang="en-US" b="false" i="false" strike="noStrike" u="none" sz="15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PM2.5 与 AQI 强正相关：PM2.5 高低基本决定了当天 AQI 等级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3302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r = −0.25</a:t>
            </a:r>
            <a:r>
              <a:rPr lang="en-US" b="false" i="false" strike="noStrike" u="none" sz="15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PM2.5 与臭氧弱负相关：冬夏此消彼长，季节错位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4572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政策含义</a:t>
            </a:r>
            <a:r>
              <a:rPr lang="en-US" b="false" i="false" strike="noStrike" u="none" sz="15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盯住 PM2.5，就抓住了全年空气质量改善的主要抓手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6477000"/>
            <a:ext cx="1041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48E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数据来源：天气后报汉中 2025 年逐日监测 · Pearson 相关系数，n = 365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604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交互系统与结论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9906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Streamlit 驾驶舱：五个视图，全部可交互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889053" y="1746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50" b="50"/>
          <a:stretch>
            <a:fillRect/>
          </a:stretch>
        </p:blipFill>
        <p:spPr>
          <a:xfrm rot="0" flipH="false" flipV="false">
            <a:off x="889000" y="1905000"/>
            <a:ext cx="5080000" cy="4356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62865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07A"/>
                </a:solidFill>
                <a:latin typeface="Noto Serif SC"/>
                <a:ea typeface="Noto Serif SC"/>
                <a:cs typeface="Noto Serif SC"/>
                <a:sym typeface="Noto Serif SC"/>
              </a:rPr>
              <a:t>图 7 · 交互式分析驾驶舱（本地 Streamlit 应用）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19685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五个标签页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总览驾驶舱 / 污染物 / 相关性 / 日历热力 / 数据浏览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3048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联动筛选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侧边栏日期区间、季节、月份一键切换，全页联动重算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41275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Plotly 交互图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支持缩放、悬停读数、导出 PNG，可深入任意时段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5207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零部署</a:t>
            </a: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Python + Streamlit 本地运行，浏览器即开即用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" y="6604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交互系统与结论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" y="9906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结论：总体良好，冬季 PM2.5 是主要矛盾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889053" y="1746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" y="2032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主要结论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476500"/>
            <a:ext cx="508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1　</a:t>
            </a: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2025 年优良率 89.0%、年均 AQI 63.9，总体良好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492500"/>
            <a:ext cx="508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2　</a:t>
            </a: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污染呈冬季型，PM2.5 与 AQI 相关 0.95，1 月最重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4508500"/>
            <a:ext cx="508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3　</a:t>
            </a: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春季沙尘与夏季臭氧是两类外部挑战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032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治理建议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24765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1　</a:t>
            </a: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秋冬季深化散煤燃烧与扬尘管控，盯住 PM2.5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34925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2　</a:t>
            </a: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春季加强沙尘过程预警，夏季关注臭氧污染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45085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3　</a:t>
            </a:r>
            <a:r>
              <a:rPr lang="en-US" b="false" i="false" strike="noStrike" u="none" sz="1300">
                <a:solidFill>
                  <a:srgbClr val="4D5A53"/>
                </a:solidFill>
                <a:latin typeface="Noto Serif SC"/>
                <a:ea typeface="Noto Serif SC"/>
                <a:cs typeface="Noto Serif SC"/>
                <a:sym typeface="Noto Serif SC"/>
              </a:rPr>
              <a:t>依托本项目驾驶舱建立常态化逐日监测看板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192" flipH="false" flipV="false">
            <a:off x="889004" y="56451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D0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89000" y="58674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谢谢聆听，敬请各位老师批评指正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